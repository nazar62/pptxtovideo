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3"/>
    <p:sldId id="267" r:id="rId4"/>
    <p:sldId id="261" r:id="rId5"/>
    <p:sldId id="262" r:id="rId6"/>
    <p:sldId id="277" r:id="rId7"/>
    <p:sldId id="274" r:id="rId8"/>
  </p:sldIdLst>
  <p:sldSz cx="18288000" cy="10287000"/>
  <p:notesSz cx="6858000" cy="9144000"/>
  <p:embeddedFontLst>
    <p:embeddedFont>
      <p:font typeface="League Spartan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E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A7B871-1B43-42B7-8097-2AD4734AA12D}">
  <a:tblStyle styleId="{BFA7B871-1B43-42B7-8097-2AD4734AA1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360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t="5268" b="526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!!Google Shape;280;p20"/>
          <p:cNvSpPr/>
          <p:nvPr/>
        </p:nvSpPr>
        <p:spPr>
          <a:xfrm>
            <a:off x="11222255" y="-567726"/>
            <a:ext cx="9308195" cy="9308157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65BB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86538" y="752282"/>
            <a:ext cx="5993200" cy="89367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32096" y="4750589"/>
            <a:ext cx="11709613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8000" b="1" i="0" u="none" strike="noStrike" cap="none" dirty="0">
                <a:solidFill>
                  <a:srgbClr val="2C6E49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Бактеріальні хвороби</a:t>
            </a:r>
            <a:endParaRPr sz="8000" b="1" dirty="0">
              <a:solidFill>
                <a:srgbClr val="2C6E4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8" name="Google Shape;88;p13"/>
          <p:cNvCxnSpPr/>
          <p:nvPr/>
        </p:nvCxnSpPr>
        <p:spPr>
          <a:xfrm>
            <a:off x="-58834" y="6132203"/>
            <a:ext cx="10671900" cy="0"/>
          </a:xfrm>
          <a:prstGeom prst="straightConnector1">
            <a:avLst/>
          </a:prstGeom>
          <a:noFill/>
          <a:ln w="190500" cap="rnd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9" name="Google Shape;89;p13"/>
          <p:cNvGrpSpPr/>
          <p:nvPr/>
        </p:nvGrpSpPr>
        <p:grpSpPr>
          <a:xfrm>
            <a:off x="6920448" y="752282"/>
            <a:ext cx="269790" cy="270999"/>
            <a:chOff x="1813" y="0"/>
            <a:chExt cx="809173" cy="812800"/>
          </a:xfrm>
        </p:grpSpPr>
        <p:sp>
          <p:nvSpPr>
            <p:cNvPr id="90" name="Google Shape;90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8956366" y="2389801"/>
            <a:ext cx="375267" cy="376949"/>
            <a:chOff x="1813" y="0"/>
            <a:chExt cx="809173" cy="812800"/>
          </a:xfrm>
        </p:grpSpPr>
        <p:sp>
          <p:nvSpPr>
            <p:cNvPr id="93" name="Google Shape;9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2C6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3"/>
          <p:cNvSpPr/>
          <p:nvPr/>
        </p:nvSpPr>
        <p:spPr>
          <a:xfrm>
            <a:off x="3441331" y="8266515"/>
            <a:ext cx="5891144" cy="5891119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9DD1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13"/>
          <p:cNvGrpSpPr/>
          <p:nvPr/>
        </p:nvGrpSpPr>
        <p:grpSpPr>
          <a:xfrm>
            <a:off x="1836778" y="8740432"/>
            <a:ext cx="375267" cy="376949"/>
            <a:chOff x="1813" y="0"/>
            <a:chExt cx="809173" cy="812800"/>
          </a:xfrm>
        </p:grpSpPr>
        <p:sp>
          <p:nvSpPr>
            <p:cNvPr id="97" name="Google Shape;97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3"/>
          <p:cNvGrpSpPr/>
          <p:nvPr/>
        </p:nvGrpSpPr>
        <p:grpSpPr>
          <a:xfrm>
            <a:off x="17380579" y="8740432"/>
            <a:ext cx="375267" cy="376949"/>
            <a:chOff x="1813" y="0"/>
            <a:chExt cx="809173" cy="812800"/>
          </a:xfrm>
        </p:grpSpPr>
        <p:sp>
          <p:nvSpPr>
            <p:cNvPr id="100" name="Google Shape;100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2C6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3"/>
          <p:cNvGrpSpPr/>
          <p:nvPr/>
        </p:nvGrpSpPr>
        <p:grpSpPr>
          <a:xfrm>
            <a:off x="11386958" y="563807"/>
            <a:ext cx="187634" cy="188475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" name="Google Shape;10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1022" y="8740432"/>
            <a:ext cx="3370423" cy="24716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3"/>
          <p:cNvGrpSpPr/>
          <p:nvPr/>
        </p:nvGrpSpPr>
        <p:grpSpPr>
          <a:xfrm>
            <a:off x="13843037" y="2118802"/>
            <a:ext cx="269790" cy="270999"/>
            <a:chOff x="1813" y="0"/>
            <a:chExt cx="809173" cy="812800"/>
          </a:xfrm>
        </p:grpSpPr>
        <p:sp>
          <p:nvSpPr>
            <p:cNvPr id="107" name="Google Shape;107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3"/>
          <p:cNvSpPr/>
          <p:nvPr/>
        </p:nvSpPr>
        <p:spPr>
          <a:xfrm>
            <a:off x="-58813" y="-3528742"/>
            <a:ext cx="5922057" cy="5922033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2C6E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0"/>
          <p:cNvPicPr preferRelativeResize="0"/>
          <p:nvPr/>
        </p:nvPicPr>
        <p:blipFill rotWithShape="1">
          <a:blip r:embed="rId3">
            <a:alphaModFix/>
          </a:blip>
          <a:srcRect t="5268" b="526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!!Google Shape;280;p20"/>
          <p:cNvGrpSpPr/>
          <p:nvPr/>
        </p:nvGrpSpPr>
        <p:grpSpPr>
          <a:xfrm>
            <a:off x="9144000" y="-180826"/>
            <a:ext cx="9144000" cy="10467826"/>
            <a:chOff x="0" y="-47625"/>
            <a:chExt cx="2408296" cy="2756958"/>
          </a:xfrm>
        </p:grpSpPr>
        <p:sp>
          <p:nvSpPr>
            <p:cNvPr id="281" name="Google Shape;281;p20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20"/>
          <p:cNvSpPr txBox="1"/>
          <p:nvPr/>
        </p:nvSpPr>
        <p:spPr>
          <a:xfrm>
            <a:off x="292069" y="1327156"/>
            <a:ext cx="9342862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ru-RU" sz="5400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Вступ до бактеріальних</a:t>
            </a:r>
            <a:r>
              <a:rPr lang="en-US" sz="5400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 </a:t>
            </a:r>
            <a:r>
              <a:rPr lang="ru-RU" sz="5400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захворювань в історії людства</a:t>
            </a:r>
            <a:endParaRPr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2" name="Picture 8" descr="Isolation of bacteria from soil">
            <a:extLst>
              <a:ext uri="{FF2B5EF4-FFF2-40B4-BE49-F238E27FC236}">
                <a16:creationId xmlns:a16="http://schemas.microsoft.com/office/drawing/2014/main" id="{D2C949ED-37C1-0248-AF6E-4C8D79EE0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329" y="0"/>
            <a:ext cx="7735342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5" name="Google Shape;285;p20"/>
          <p:cNvSpPr txBox="1"/>
          <p:nvPr/>
        </p:nvSpPr>
        <p:spPr>
          <a:xfrm>
            <a:off x="292069" y="3402156"/>
            <a:ext cx="8335190" cy="640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uk-UA" sz="3200" dirty="0">
                <a:solidFill>
                  <a:srgbClr val="403F3F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Бактеріальні захворювання глибоко вплинули на історію людства, перші згадки про них датуються 3000 роком до н.е. Ці хвороби спричиняли значні пандемії, що призводили до занепаду цілих міст і цивілізацій. Незважаючи на прогрес у медичних дослідженнях, бактеріальні інфекції залишаються основною причиною смертності в усьому світі. Розуміння історії цих хвороб має вирішальне значення для розуміння їхнього впливу на суспільство.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Bacteria, disease, flu, hiv, influenza, microorganism, virus icon">
            <a:extLst>
              <a:ext uri="{FF2B5EF4-FFF2-40B4-BE49-F238E27FC236}">
                <a16:creationId xmlns:a16="http://schemas.microsoft.com/office/drawing/2014/main" id="{2CB660ED-43BE-CDFF-FA35-9273A91EC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364" y="8784254"/>
            <a:ext cx="30861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rus icon - Download on Iconfinder on Iconfinder">
            <a:extLst>
              <a:ext uri="{FF2B5EF4-FFF2-40B4-BE49-F238E27FC236}">
                <a16:creationId xmlns:a16="http://schemas.microsoft.com/office/drawing/2014/main" id="{8EC20F80-533C-9F1D-5D8B-AF9C2079B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92365" y="-269459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4"/>
          <p:cNvPicPr preferRelativeResize="0"/>
          <p:nvPr/>
        </p:nvPicPr>
        <p:blipFill rotWithShape="1">
          <a:blip r:embed="rId3">
            <a:alphaModFix/>
          </a:blip>
          <a:srcRect t="5268" b="526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4"/>
          <p:cNvSpPr txBox="1"/>
          <p:nvPr/>
        </p:nvSpPr>
        <p:spPr>
          <a:xfrm>
            <a:off x="10642178" y="859966"/>
            <a:ext cx="7183592" cy="8962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b="0" i="0" u="none" strike="noStrike" cap="none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Одним із перших задокументованих бактеріальних спалахів була Афінська чума 430 року до н.е., яка знищила чверть афінського війська під час Пелопоннеської війни. Хвороба швидко поширювалася в умовах скупчення людей, вражаючи як солдатів, так і цивільне населення. Нещодавні дослідження припускають, що збудником міг бути серовар тифу *</a:t>
            </a:r>
            <a:r>
              <a:rPr lang="en-US" sz="3200" b="0" i="0" u="none" strike="noStrike" cap="none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Salmonella enterica*, </a:t>
            </a:r>
            <a:r>
              <a:rPr lang="uk-UA" sz="3200" b="0" i="0" u="none" strike="noStrike" cap="none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відповідальний за черевний тиф. Це свідчить про те, як бактеріальні захворювання процвітають у густонаселених районах.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57659" y="-421912"/>
            <a:ext cx="9086341" cy="11526211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10751424" y="1028700"/>
            <a:ext cx="6507876" cy="1125728"/>
          </a:xfrm>
          <a:custGeom>
            <a:avLst/>
            <a:gdLst/>
            <a:ahLst/>
            <a:cxnLst/>
            <a:rect l="l" t="t" r="r" b="b"/>
            <a:pathLst>
              <a:path w="1714009" h="296488" extrusionOk="0">
                <a:moveTo>
                  <a:pt x="0" y="0"/>
                </a:moveTo>
                <a:lnTo>
                  <a:pt x="1714009" y="0"/>
                </a:lnTo>
                <a:lnTo>
                  <a:pt x="1714009" y="296488"/>
                </a:lnTo>
                <a:lnTo>
                  <a:pt x="0" y="29648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369" name="Google Shape;369;p24"/>
          <p:cNvSpPr/>
          <p:nvPr/>
        </p:nvSpPr>
        <p:spPr>
          <a:xfrm>
            <a:off x="10751424" y="4077289"/>
            <a:ext cx="6507876" cy="1125728"/>
          </a:xfrm>
          <a:custGeom>
            <a:avLst/>
            <a:gdLst/>
            <a:ahLst/>
            <a:cxnLst/>
            <a:rect l="l" t="t" r="r" b="b"/>
            <a:pathLst>
              <a:path w="1714009" h="296488" extrusionOk="0">
                <a:moveTo>
                  <a:pt x="0" y="0"/>
                </a:moveTo>
                <a:lnTo>
                  <a:pt x="1714009" y="0"/>
                </a:lnTo>
                <a:lnTo>
                  <a:pt x="1714009" y="296488"/>
                </a:lnTo>
                <a:lnTo>
                  <a:pt x="0" y="29648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sp>
        <p:nvSpPr>
          <p:cNvPr id="373" name="Google Shape;373;p24"/>
          <p:cNvSpPr/>
          <p:nvPr/>
        </p:nvSpPr>
        <p:spPr>
          <a:xfrm>
            <a:off x="10751424" y="7125878"/>
            <a:ext cx="6507876" cy="1125728"/>
          </a:xfrm>
          <a:custGeom>
            <a:avLst/>
            <a:gdLst/>
            <a:ahLst/>
            <a:cxnLst/>
            <a:rect l="l" t="t" r="r" b="b"/>
            <a:pathLst>
              <a:path w="1714009" h="296488" extrusionOk="0">
                <a:moveTo>
                  <a:pt x="0" y="0"/>
                </a:moveTo>
                <a:lnTo>
                  <a:pt x="1714009" y="0"/>
                </a:lnTo>
                <a:lnTo>
                  <a:pt x="1714009" y="296488"/>
                </a:lnTo>
                <a:lnTo>
                  <a:pt x="0" y="29648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uk-UA"/>
          </a:p>
        </p:txBody>
      </p:sp>
      <p:cxnSp>
        <p:nvCxnSpPr>
          <p:cNvPr id="376" name="Google Shape;376;p24"/>
          <p:cNvCxnSpPr/>
          <p:nvPr/>
        </p:nvCxnSpPr>
        <p:spPr>
          <a:xfrm>
            <a:off x="8440829" y="1572514"/>
            <a:ext cx="2310595" cy="0"/>
          </a:xfrm>
          <a:prstGeom prst="straightConnector1">
            <a:avLst/>
          </a:prstGeom>
          <a:noFill/>
          <a:ln w="38100" cap="flat" cmpd="sng">
            <a:solidFill>
              <a:srgbClr val="403F3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7" name="Google Shape;377;p24"/>
          <p:cNvCxnSpPr/>
          <p:nvPr/>
        </p:nvCxnSpPr>
        <p:spPr>
          <a:xfrm>
            <a:off x="8440829" y="4640153"/>
            <a:ext cx="2310595" cy="0"/>
          </a:xfrm>
          <a:prstGeom prst="straightConnector1">
            <a:avLst/>
          </a:prstGeom>
          <a:noFill/>
          <a:ln w="38100" cap="flat" cmpd="sng">
            <a:solidFill>
              <a:srgbClr val="403F3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8" name="Google Shape;378;p24"/>
          <p:cNvCxnSpPr/>
          <p:nvPr/>
        </p:nvCxnSpPr>
        <p:spPr>
          <a:xfrm>
            <a:off x="8440829" y="7707792"/>
            <a:ext cx="2310595" cy="0"/>
          </a:xfrm>
          <a:prstGeom prst="straightConnector1">
            <a:avLst/>
          </a:prstGeom>
          <a:noFill/>
          <a:ln w="38100" cap="flat" cmpd="sng">
            <a:solidFill>
              <a:srgbClr val="403F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3DA85F3-83A6-C27E-4CE7-C831C4393AB9}"/>
              </a:ext>
            </a:extLst>
          </p:cNvPr>
          <p:cNvGrpSpPr/>
          <p:nvPr/>
        </p:nvGrpSpPr>
        <p:grpSpPr>
          <a:xfrm>
            <a:off x="1737493" y="237919"/>
            <a:ext cx="5726673" cy="8554040"/>
            <a:chOff x="1737493" y="237919"/>
            <a:chExt cx="5726673" cy="8554040"/>
          </a:xfrm>
        </p:grpSpPr>
        <p:sp>
          <p:nvSpPr>
            <p:cNvPr id="363" name="Google Shape;363;p24"/>
            <p:cNvSpPr txBox="1"/>
            <p:nvPr/>
          </p:nvSpPr>
          <p:spPr>
            <a:xfrm>
              <a:off x="1737493" y="7757830"/>
              <a:ext cx="572667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5600" dirty="0">
                  <a:solidFill>
                    <a:srgbClr val="FFFFEB"/>
                  </a:solidFill>
                  <a:sym typeface="League Spartan"/>
                </a:rPr>
                <a:t>Афінська Чума</a:t>
              </a:r>
              <a:endParaRPr dirty="0"/>
            </a:p>
          </p:txBody>
        </p:sp>
        <p:pic>
          <p:nvPicPr>
            <p:cNvPr id="2050" name="Picture 2" descr="Βυζαντινή τέχνη. Δημήτρης Σκουρτέλης: Αποσύρθηκε ο λίβελος Πετράτου ...">
              <a:extLst>
                <a:ext uri="{FF2B5EF4-FFF2-40B4-BE49-F238E27FC236}">
                  <a16:creationId xmlns:a16="http://schemas.microsoft.com/office/drawing/2014/main" id="{13534C4F-DF33-D806-DD79-B5E359C59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953" y="237919"/>
              <a:ext cx="4928830" cy="7281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/>
          <p:cNvPicPr preferRelativeResize="0"/>
          <p:nvPr/>
        </p:nvPicPr>
        <p:blipFill rotWithShape="1">
          <a:blip r:embed="rId3">
            <a:alphaModFix/>
          </a:blip>
          <a:srcRect t="5268" b="526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/>
          <p:nvPr/>
        </p:nvSpPr>
        <p:spPr>
          <a:xfrm>
            <a:off x="14677074" y="6878938"/>
            <a:ext cx="4694724" cy="4694704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2C6E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 descr="Bubonic Plague Mask Drawing">
            <a:extLst>
              <a:ext uri="{FF2B5EF4-FFF2-40B4-BE49-F238E27FC236}">
                <a16:creationId xmlns:a16="http://schemas.microsoft.com/office/drawing/2014/main" id="{9A3C4405-DE4B-E547-3025-E36D37BE1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6" r="5754" b="163"/>
          <a:stretch>
            <a:fillRect/>
          </a:stretch>
        </p:blipFill>
        <p:spPr bwMode="auto">
          <a:xfrm>
            <a:off x="9645192" y="1211475"/>
            <a:ext cx="7925134" cy="7664274"/>
          </a:xfrm>
          <a:custGeom>
            <a:avLst/>
            <a:gdLst>
              <a:gd name="connsiteX0" fmla="*/ 3717945 w 8058518"/>
              <a:gd name="connsiteY0" fmla="*/ 0 h 7664274"/>
              <a:gd name="connsiteX1" fmla="*/ 4340574 w 8058518"/>
              <a:gd name="connsiteY1" fmla="*/ 0 h 7664274"/>
              <a:gd name="connsiteX2" fmla="*/ 4441228 w 8058518"/>
              <a:gd name="connsiteY2" fmla="*/ 7291 h 7664274"/>
              <a:gd name="connsiteX3" fmla="*/ 8058518 w 8058518"/>
              <a:gd name="connsiteY3" fmla="*/ 3825874 h 7664274"/>
              <a:gd name="connsiteX4" fmla="*/ 4029259 w 8058518"/>
              <a:gd name="connsiteY4" fmla="*/ 7664274 h 7664274"/>
              <a:gd name="connsiteX5" fmla="*/ 0 w 8058518"/>
              <a:gd name="connsiteY5" fmla="*/ 3825874 h 7664274"/>
              <a:gd name="connsiteX6" fmla="*/ 3617291 w 8058518"/>
              <a:gd name="connsiteY6" fmla="*/ 7291 h 7664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58518" h="7664274">
                <a:moveTo>
                  <a:pt x="3717945" y="0"/>
                </a:moveTo>
                <a:lnTo>
                  <a:pt x="4340574" y="0"/>
                </a:lnTo>
                <a:lnTo>
                  <a:pt x="4441228" y="7291"/>
                </a:lnTo>
                <a:cubicBezTo>
                  <a:pt x="6473005" y="203856"/>
                  <a:pt x="8058518" y="1838477"/>
                  <a:pt x="8058518" y="3825874"/>
                </a:cubicBezTo>
                <a:cubicBezTo>
                  <a:pt x="8058518" y="5945764"/>
                  <a:pt x="6254557" y="7664274"/>
                  <a:pt x="4029259" y="7664274"/>
                </a:cubicBezTo>
                <a:cubicBezTo>
                  <a:pt x="1803961" y="7664274"/>
                  <a:pt x="0" y="5945764"/>
                  <a:pt x="0" y="3825874"/>
                </a:cubicBezTo>
                <a:cubicBezTo>
                  <a:pt x="0" y="1838477"/>
                  <a:pt x="1585513" y="203856"/>
                  <a:pt x="3617291" y="729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Google Shape;205;p18"/>
          <p:cNvSpPr/>
          <p:nvPr/>
        </p:nvSpPr>
        <p:spPr>
          <a:xfrm>
            <a:off x="7956641" y="293579"/>
            <a:ext cx="3508657" cy="350864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65BB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378907" y="781902"/>
            <a:ext cx="114941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8800" b="1" dirty="0">
                <a:solidFill>
                  <a:srgbClr val="2C6E49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Б</a:t>
            </a:r>
            <a:r>
              <a:rPr lang="uk-UA" sz="8800" b="1" i="0" u="none" strike="noStrike" cap="none" dirty="0">
                <a:solidFill>
                  <a:srgbClr val="2C6E49"/>
                </a:solidFill>
                <a:latin typeface="Calibri" panose="020F0502020204030204" pitchFamily="34" charset="0"/>
                <a:ea typeface="League Spartan"/>
                <a:cs typeface="Calibri" panose="020F0502020204030204" pitchFamily="34" charset="0"/>
                <a:sym typeface="League Spartan"/>
              </a:rPr>
              <a:t>убонна Чума</a:t>
            </a:r>
            <a:endParaRPr lang="en-US" sz="8800" b="1" dirty="0">
              <a:latin typeface="Calibri" panose="020F0502020204030204" pitchFamily="34" charset="0"/>
              <a:ea typeface="League Spartan"/>
              <a:cs typeface="Calibri" panose="020F0502020204030204" pitchFamily="34" charset="0"/>
              <a:sym typeface="League Spartan"/>
            </a:endParaRPr>
          </a:p>
        </p:txBody>
      </p:sp>
      <p:cxnSp>
        <p:nvCxnSpPr>
          <p:cNvPr id="209" name="Google Shape;209;p18"/>
          <p:cNvCxnSpPr/>
          <p:nvPr/>
        </p:nvCxnSpPr>
        <p:spPr>
          <a:xfrm>
            <a:off x="0" y="2257815"/>
            <a:ext cx="8444829" cy="0"/>
          </a:xfrm>
          <a:prstGeom prst="straightConnector1">
            <a:avLst/>
          </a:prstGeom>
          <a:noFill/>
          <a:ln w="190500" cap="rnd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10" name="Google Shape;210;p18"/>
          <p:cNvGrpSpPr/>
          <p:nvPr/>
        </p:nvGrpSpPr>
        <p:grpSpPr>
          <a:xfrm>
            <a:off x="164189" y="792634"/>
            <a:ext cx="332364" cy="270999"/>
            <a:chOff x="-1383955" y="-1273314"/>
            <a:chExt cx="996849" cy="812800"/>
          </a:xfrm>
        </p:grpSpPr>
        <p:sp>
          <p:nvSpPr>
            <p:cNvPr id="211" name="Google Shape;211;p18"/>
            <p:cNvSpPr/>
            <p:nvPr/>
          </p:nvSpPr>
          <p:spPr>
            <a:xfrm>
              <a:off x="-1196279" y="-1273314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-1383955" y="-1273314"/>
              <a:ext cx="660400" cy="7080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8"/>
          <p:cNvSpPr/>
          <p:nvPr/>
        </p:nvSpPr>
        <p:spPr>
          <a:xfrm>
            <a:off x="8858416" y="5277373"/>
            <a:ext cx="375267" cy="376949"/>
          </a:xfrm>
          <a:custGeom>
            <a:avLst/>
            <a:gdLst/>
            <a:ahLst/>
            <a:cxnLst/>
            <a:rect l="l" t="t" r="r" b="b"/>
            <a:pathLst>
              <a:path w="809173" h="812800" extrusionOk="0">
                <a:moveTo>
                  <a:pt x="404587" y="0"/>
                </a:moveTo>
                <a:cubicBezTo>
                  <a:pt x="628326" y="1001"/>
                  <a:pt x="809174" y="182659"/>
                  <a:pt x="809174" y="406400"/>
                </a:cubicBezTo>
                <a:cubicBezTo>
                  <a:pt x="809174" y="630141"/>
                  <a:pt x="628326" y="811799"/>
                  <a:pt x="404587" y="812800"/>
                </a:cubicBezTo>
                <a:cubicBezTo>
                  <a:pt x="180848" y="811799"/>
                  <a:pt x="0" y="630141"/>
                  <a:pt x="0" y="406400"/>
                </a:cubicBezTo>
                <a:cubicBezTo>
                  <a:pt x="0" y="182659"/>
                  <a:pt x="180848" y="1001"/>
                  <a:pt x="404587" y="0"/>
                </a:cubicBezTo>
                <a:close/>
              </a:path>
            </a:pathLst>
          </a:custGeom>
          <a:solidFill>
            <a:srgbClr val="2C6E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6" name="Google Shape;216;p18"/>
          <p:cNvGrpSpPr/>
          <p:nvPr/>
        </p:nvGrpSpPr>
        <p:grpSpPr>
          <a:xfrm>
            <a:off x="5092734" y="1028700"/>
            <a:ext cx="187634" cy="188475"/>
            <a:chOff x="1813" y="0"/>
            <a:chExt cx="809173" cy="812800"/>
          </a:xfrm>
        </p:grpSpPr>
        <p:sp>
          <p:nvSpPr>
            <p:cNvPr id="217" name="Google Shape;217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8"/>
          <p:cNvGrpSpPr/>
          <p:nvPr/>
        </p:nvGrpSpPr>
        <p:grpSpPr>
          <a:xfrm>
            <a:off x="7957245" y="2583694"/>
            <a:ext cx="269790" cy="270999"/>
            <a:chOff x="1813" y="0"/>
            <a:chExt cx="809173" cy="812800"/>
          </a:xfrm>
        </p:grpSpPr>
        <p:sp>
          <p:nvSpPr>
            <p:cNvPr id="220" name="Google Shape;220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8"/>
          <p:cNvGrpSpPr/>
          <p:nvPr/>
        </p:nvGrpSpPr>
        <p:grpSpPr>
          <a:xfrm>
            <a:off x="9121148" y="4095800"/>
            <a:ext cx="456215" cy="458260"/>
            <a:chOff x="1813" y="0"/>
            <a:chExt cx="809173" cy="812800"/>
          </a:xfrm>
        </p:grpSpPr>
        <p:sp>
          <p:nvSpPr>
            <p:cNvPr id="223" name="Google Shape;223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8"/>
          <p:cNvGrpSpPr/>
          <p:nvPr/>
        </p:nvGrpSpPr>
        <p:grpSpPr>
          <a:xfrm>
            <a:off x="17380579" y="8740432"/>
            <a:ext cx="375267" cy="376949"/>
            <a:chOff x="1813" y="0"/>
            <a:chExt cx="809173" cy="812800"/>
          </a:xfrm>
        </p:grpSpPr>
        <p:sp>
          <p:nvSpPr>
            <p:cNvPr id="226" name="Google Shape;226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2C6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8"/>
          <p:cNvGrpSpPr/>
          <p:nvPr/>
        </p:nvGrpSpPr>
        <p:grpSpPr>
          <a:xfrm>
            <a:off x="16836381" y="623539"/>
            <a:ext cx="187634" cy="188475"/>
            <a:chOff x="1813" y="0"/>
            <a:chExt cx="809173" cy="812800"/>
          </a:xfrm>
        </p:grpSpPr>
        <p:sp>
          <p:nvSpPr>
            <p:cNvPr id="229" name="Google Shape;229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8"/>
          <p:cNvGrpSpPr/>
          <p:nvPr/>
        </p:nvGrpSpPr>
        <p:grpSpPr>
          <a:xfrm>
            <a:off x="17569054" y="3231643"/>
            <a:ext cx="375267" cy="376949"/>
            <a:chOff x="1813" y="0"/>
            <a:chExt cx="809173" cy="812800"/>
          </a:xfrm>
        </p:grpSpPr>
        <p:sp>
          <p:nvSpPr>
            <p:cNvPr id="232" name="Google Shape;232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2C6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12022770" y="158080"/>
            <a:ext cx="269790" cy="270999"/>
            <a:chOff x="1813" y="0"/>
            <a:chExt cx="809173" cy="812800"/>
          </a:xfrm>
        </p:grpSpPr>
        <p:sp>
          <p:nvSpPr>
            <p:cNvPr id="235" name="Google Shape;235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8"/>
          <p:cNvGrpSpPr/>
          <p:nvPr/>
        </p:nvGrpSpPr>
        <p:grpSpPr>
          <a:xfrm>
            <a:off x="13385154" y="9612529"/>
            <a:ext cx="187634" cy="188475"/>
            <a:chOff x="1813" y="0"/>
            <a:chExt cx="809173" cy="812800"/>
          </a:xfrm>
        </p:grpSpPr>
        <p:sp>
          <p:nvSpPr>
            <p:cNvPr id="238" name="Google Shape;238;p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208;p18">
            <a:extLst>
              <a:ext uri="{FF2B5EF4-FFF2-40B4-BE49-F238E27FC236}">
                <a16:creationId xmlns:a16="http://schemas.microsoft.com/office/drawing/2014/main" id="{745B2DA8-3C54-D1CC-4068-1A47D5006E48}"/>
              </a:ext>
            </a:extLst>
          </p:cNvPr>
          <p:cNvSpPr txBox="1"/>
          <p:nvPr/>
        </p:nvSpPr>
        <p:spPr>
          <a:xfrm>
            <a:off x="249245" y="2759075"/>
            <a:ext cx="8829964" cy="704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b="0" i="0" u="none" strike="noStrike" cap="none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Бубонна чума, особливо чума Юстиніана з 541 по 750 рр. н.е., мала катастрофічні наслідки, вбивши до половини населення Східного Середземномор'я. Найвідоміший спалах, Чорна смерть (1346-1361 рр.), за оцінками, скоротив населення Європи з 450 мільйонів до приблизно 350 мільйонів. Викликана *</a:t>
            </a:r>
            <a:r>
              <a:rPr lang="en-US" sz="3200" b="0" i="0" u="none" strike="noStrike" cap="none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Yersinia pestis*, </a:t>
            </a:r>
            <a:r>
              <a:rPr lang="uk-UA" sz="3200" b="0" i="0" u="none" strike="noStrike" cap="none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ця хвороба поширювалася через щурячих бліх і торговельні шляхи, демонструючи, як взаємопов'язаність може сприяти передачі хвороб.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9"/>
          <p:cNvPicPr preferRelativeResize="0"/>
          <p:nvPr/>
        </p:nvPicPr>
        <p:blipFill rotWithShape="1">
          <a:blip r:embed="rId3">
            <a:alphaModFix/>
          </a:blip>
          <a:srcRect t="5268" b="526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1206617" y="1534168"/>
            <a:ext cx="80649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uk-UA" sz="6000" dirty="0">
                <a:latin typeface="Calibri" panose="020F0502020204030204" pitchFamily="34" charset="0"/>
                <a:cs typeface="Calibri" panose="020F0502020204030204" pitchFamily="34" charset="0"/>
              </a:rPr>
              <a:t>Вплив на корінне населення Америки</a:t>
            </a:r>
            <a:endParaRPr sz="6000" dirty="0"/>
          </a:p>
        </p:txBody>
      </p:sp>
      <p:cxnSp>
        <p:nvCxnSpPr>
          <p:cNvPr id="249" name="Google Shape;249;p19"/>
          <p:cNvCxnSpPr/>
          <p:nvPr/>
        </p:nvCxnSpPr>
        <p:spPr>
          <a:xfrm>
            <a:off x="-180181" y="3433965"/>
            <a:ext cx="8132100" cy="0"/>
          </a:xfrm>
          <a:prstGeom prst="straightConnector1">
            <a:avLst/>
          </a:prstGeom>
          <a:noFill/>
          <a:ln w="190500" cap="rnd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0" name="Google Shape;250;p19"/>
          <p:cNvGrpSpPr/>
          <p:nvPr/>
        </p:nvGrpSpPr>
        <p:grpSpPr>
          <a:xfrm>
            <a:off x="5061827" y="563807"/>
            <a:ext cx="269790" cy="270999"/>
            <a:chOff x="1813" y="0"/>
            <a:chExt cx="809173" cy="812800"/>
          </a:xfrm>
        </p:grpSpPr>
        <p:sp>
          <p:nvSpPr>
            <p:cNvPr id="251" name="Google Shape;251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9"/>
          <p:cNvGrpSpPr/>
          <p:nvPr/>
        </p:nvGrpSpPr>
        <p:grpSpPr>
          <a:xfrm>
            <a:off x="7426759" y="1783502"/>
            <a:ext cx="375267" cy="376949"/>
            <a:chOff x="1813" y="0"/>
            <a:chExt cx="809173" cy="812800"/>
          </a:xfrm>
        </p:grpSpPr>
        <p:sp>
          <p:nvSpPr>
            <p:cNvPr id="254" name="Google Shape;254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2C6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3981555" y="8928907"/>
            <a:ext cx="4654312" cy="4654293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9DD1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96753" y="9802913"/>
            <a:ext cx="375267" cy="376949"/>
            <a:chOff x="1813" y="0"/>
            <a:chExt cx="809173" cy="812800"/>
          </a:xfrm>
        </p:grpSpPr>
        <p:sp>
          <p:nvSpPr>
            <p:cNvPr id="258" name="Google Shape;258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9541087" y="699307"/>
            <a:ext cx="187634" cy="188475"/>
            <a:chOff x="1813" y="0"/>
            <a:chExt cx="809173" cy="812800"/>
          </a:xfrm>
        </p:grpSpPr>
        <p:sp>
          <p:nvSpPr>
            <p:cNvPr id="261" name="Google Shape;261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9"/>
          <p:cNvGrpSpPr/>
          <p:nvPr/>
        </p:nvGrpSpPr>
        <p:grpSpPr>
          <a:xfrm>
            <a:off x="9364510" y="9258300"/>
            <a:ext cx="269790" cy="270999"/>
            <a:chOff x="1813" y="0"/>
            <a:chExt cx="809173" cy="812800"/>
          </a:xfrm>
        </p:grpSpPr>
        <p:sp>
          <p:nvSpPr>
            <p:cNvPr id="264" name="Google Shape;264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0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9"/>
          <p:cNvGrpSpPr/>
          <p:nvPr/>
        </p:nvGrpSpPr>
        <p:grpSpPr>
          <a:xfrm>
            <a:off x="9110285" y="4252315"/>
            <a:ext cx="375153" cy="376835"/>
            <a:chOff x="1813" y="0"/>
            <a:chExt cx="809173" cy="812800"/>
          </a:xfrm>
        </p:grpSpPr>
        <p:sp>
          <p:nvSpPr>
            <p:cNvPr id="267" name="Google Shape;267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9"/>
          <p:cNvGrpSpPr/>
          <p:nvPr/>
        </p:nvGrpSpPr>
        <p:grpSpPr>
          <a:xfrm>
            <a:off x="2213394" y="3390500"/>
            <a:ext cx="226448" cy="227463"/>
            <a:chOff x="1813" y="0"/>
            <a:chExt cx="809173" cy="812800"/>
          </a:xfrm>
        </p:grpSpPr>
        <p:sp>
          <p:nvSpPr>
            <p:cNvPr id="270" name="Google Shape;270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2C6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9"/>
          <p:cNvGrpSpPr/>
          <p:nvPr/>
        </p:nvGrpSpPr>
        <p:grpSpPr>
          <a:xfrm>
            <a:off x="8637904" y="8551957"/>
            <a:ext cx="187634" cy="188475"/>
            <a:chOff x="1813" y="0"/>
            <a:chExt cx="809173" cy="812800"/>
          </a:xfrm>
        </p:grpSpPr>
        <p:sp>
          <p:nvSpPr>
            <p:cNvPr id="273" name="Google Shape;273;p1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5B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2" descr="Bacteria, disease, flu, hiv, influenza, microorganism, virus icon">
            <a:extLst>
              <a:ext uri="{FF2B5EF4-FFF2-40B4-BE49-F238E27FC236}">
                <a16:creationId xmlns:a16="http://schemas.microsoft.com/office/drawing/2014/main" id="{0375AFB4-78BA-5D71-052C-3971E8ADA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6945" y="-2547028"/>
            <a:ext cx="5035576" cy="503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F4D224-163F-175E-878A-6B91C3011CA3}"/>
              </a:ext>
            </a:extLst>
          </p:cNvPr>
          <p:cNvSpPr txBox="1"/>
          <p:nvPr/>
        </p:nvSpPr>
        <p:spPr>
          <a:xfrm>
            <a:off x="968772" y="3755007"/>
            <a:ext cx="817445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dirty="0">
                <a:latin typeface="Calibri" panose="020F0502020204030204" pitchFamily="34" charset="0"/>
                <a:cs typeface="Calibri" panose="020F0502020204030204" pitchFamily="34" charset="0"/>
              </a:rPr>
              <a:t>Європейська колонізація принесла руйнівні бактеріальні захворювання в Америку, де корінні американці не мали імунітету. За оцінками, до 90 відсотків корінного населення загинуло від цих інфекцій. Цей демографічний колапс суттєво змінив хід історії, дозволивши європейським державам встановити панування в Новому Світі без особливого опору.</a:t>
            </a:r>
          </a:p>
        </p:txBody>
      </p:sp>
      <p:pic>
        <p:nvPicPr>
          <p:cNvPr id="8" name="Picture 7" descr="A person with a feathered headdress&#10;&#10;Description automatically generated">
            <a:extLst>
              <a:ext uri="{FF2B5EF4-FFF2-40B4-BE49-F238E27FC236}">
                <a16:creationId xmlns:a16="http://schemas.microsoft.com/office/drawing/2014/main" id="{CD62DAEA-1769-48BC-FD5D-B1DD8459C4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327" t="5061" r="15823"/>
          <a:stretch>
            <a:fillRect/>
          </a:stretch>
        </p:blipFill>
        <p:spPr>
          <a:xfrm>
            <a:off x="9729142" y="-426358"/>
            <a:ext cx="12243660" cy="10713359"/>
          </a:xfrm>
          <a:custGeom>
            <a:avLst/>
            <a:gdLst>
              <a:gd name="connsiteX0" fmla="*/ 6121830 w 12243660"/>
              <a:gd name="connsiteY0" fmla="*/ 0 h 10713359"/>
              <a:gd name="connsiteX1" fmla="*/ 12243660 w 12243660"/>
              <a:gd name="connsiteY1" fmla="*/ 6121878 h 10713359"/>
              <a:gd name="connsiteX2" fmla="*/ 10237990 w 12243660"/>
              <a:gd name="connsiteY2" fmla="*/ 10653260 h 10713359"/>
              <a:gd name="connsiteX3" fmla="*/ 10168608 w 12243660"/>
              <a:gd name="connsiteY3" fmla="*/ 10713359 h 10713359"/>
              <a:gd name="connsiteX4" fmla="*/ 2075032 w 12243660"/>
              <a:gd name="connsiteY4" fmla="*/ 10713359 h 10713359"/>
              <a:gd name="connsiteX5" fmla="*/ 2005652 w 12243660"/>
              <a:gd name="connsiteY5" fmla="*/ 10653260 h 10713359"/>
              <a:gd name="connsiteX6" fmla="*/ 0 w 12243660"/>
              <a:gd name="connsiteY6" fmla="*/ 6121878 h 10713359"/>
              <a:gd name="connsiteX7" fmla="*/ 6121830 w 12243660"/>
              <a:gd name="connsiteY7" fmla="*/ 0 h 1071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43660" h="10713359">
                <a:moveTo>
                  <a:pt x="6121830" y="0"/>
                </a:moveTo>
                <a:cubicBezTo>
                  <a:pt x="9502818" y="0"/>
                  <a:pt x="12243660" y="2740866"/>
                  <a:pt x="12243660" y="6121878"/>
                </a:cubicBezTo>
                <a:cubicBezTo>
                  <a:pt x="12243660" y="7917951"/>
                  <a:pt x="11470108" y="9533411"/>
                  <a:pt x="10237990" y="10653260"/>
                </a:cubicBezTo>
                <a:lnTo>
                  <a:pt x="10168608" y="10713359"/>
                </a:lnTo>
                <a:lnTo>
                  <a:pt x="2075032" y="10713359"/>
                </a:lnTo>
                <a:lnTo>
                  <a:pt x="2005652" y="10653260"/>
                </a:lnTo>
                <a:cubicBezTo>
                  <a:pt x="773539" y="9533411"/>
                  <a:pt x="0" y="7917951"/>
                  <a:pt x="0" y="6121878"/>
                </a:cubicBezTo>
                <a:cubicBezTo>
                  <a:pt x="0" y="2740866"/>
                  <a:pt x="2740841" y="0"/>
                  <a:pt x="6121830" y="0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34"/>
          <p:cNvPicPr preferRelativeResize="0"/>
          <p:nvPr/>
        </p:nvPicPr>
        <p:blipFill rotWithShape="1">
          <a:blip r:embed="rId3">
            <a:alphaModFix/>
          </a:blip>
          <a:srcRect t="5268" b="526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4"/>
          <p:cNvSpPr/>
          <p:nvPr/>
        </p:nvSpPr>
        <p:spPr>
          <a:xfrm>
            <a:off x="4733502" y="9496356"/>
            <a:ext cx="4410498" cy="441048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2C6E49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4"/>
          <p:cNvSpPr txBox="1"/>
          <p:nvPr/>
        </p:nvSpPr>
        <p:spPr>
          <a:xfrm>
            <a:off x="-2693726" y="620197"/>
            <a:ext cx="1211272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6000" dirty="0">
                <a:solidFill>
                  <a:srgbClr val="2C6E49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С</a:t>
            </a:r>
            <a:r>
              <a:rPr lang="uk-UA" sz="6000" b="0" i="0" u="none" strike="noStrike" cap="none" dirty="0">
                <a:solidFill>
                  <a:srgbClr val="2C6E49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учані бактеріальні хвороби</a:t>
            </a:r>
            <a:endParaRPr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543103" y="2095310"/>
            <a:ext cx="9867304" cy="728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uk-UA" sz="2800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У наш час ландшафт бактеріальних захворювань продовжує розвиватися. Нові хвороби - це ті, що з'явилися нещодавно або захворюваність на які зростає, тоді як хвороби, що повертаються, колись були під контролем, але зараз знову з'являються. Приблизно 75 відсотків нових інфекційних захворювань, що вражають людей, є зоонозними, тобто походять від тварин і передаються людині. Серед бактеріальних загроз, що повертаються є - дифтерія, холера та бубонна чума. Туберкульоз також залишається актуальною проблемою, особливо в міських районах з високою концентрацією людей з ослабленим імунітетом. На динаміку поширення хвороб можуть впливати зміни в навколишньому середовищі, еволюція збудника та характеристики популяції хазяїв.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8" name="Google Shape;608;p34"/>
          <p:cNvCxnSpPr>
            <a:cxnSpLocks/>
          </p:cNvCxnSpPr>
          <p:nvPr/>
        </p:nvCxnSpPr>
        <p:spPr>
          <a:xfrm>
            <a:off x="-6056361" y="1813744"/>
            <a:ext cx="15977601" cy="0"/>
          </a:xfrm>
          <a:prstGeom prst="straightConnector1">
            <a:avLst/>
          </a:prstGeom>
          <a:noFill/>
          <a:ln w="190500" cap="rnd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9" name="Google Shape;609;p34"/>
          <p:cNvSpPr/>
          <p:nvPr/>
        </p:nvSpPr>
        <p:spPr>
          <a:xfrm>
            <a:off x="16685528" y="-1496915"/>
            <a:ext cx="4410498" cy="441048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solidFill>
            <a:srgbClr val="2C6E49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4" name="Picture 4" descr="Identification of bacteria by Gram's staining techniques">
            <a:extLst>
              <a:ext uri="{FF2B5EF4-FFF2-40B4-BE49-F238E27FC236}">
                <a16:creationId xmlns:a16="http://schemas.microsoft.com/office/drawing/2014/main" id="{494D7A06-9642-88B6-02F5-05F61CAD0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086" y="1063099"/>
            <a:ext cx="6235654" cy="8314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The Tangled History of Illness and Idiocy | The Nation">
            <a:extLst>
              <a:ext uri="{FF2B5EF4-FFF2-40B4-BE49-F238E27FC236}">
                <a16:creationId xmlns:a16="http://schemas.microsoft.com/office/drawing/2014/main" id="{FAC6ADA0-309B-8682-ADAA-1EC7C78FF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609" y="2246021"/>
            <a:ext cx="4027634" cy="604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1"/>
          <p:cNvPicPr preferRelativeResize="0"/>
          <p:nvPr/>
        </p:nvPicPr>
        <p:blipFill rotWithShape="1">
          <a:blip r:embed="rId3">
            <a:alphaModFix/>
          </a:blip>
          <a:srcRect t="7825" b="7824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31"/>
          <p:cNvGrpSpPr/>
          <p:nvPr/>
        </p:nvGrpSpPr>
        <p:grpSpPr>
          <a:xfrm>
            <a:off x="4291056" y="-180826"/>
            <a:ext cx="9705893" cy="10467826"/>
            <a:chOff x="0" y="-47625"/>
            <a:chExt cx="2556284" cy="2756958"/>
          </a:xfrm>
        </p:grpSpPr>
        <p:sp>
          <p:nvSpPr>
            <p:cNvPr id="523" name="Google Shape;523;p31"/>
            <p:cNvSpPr/>
            <p:nvPr/>
          </p:nvSpPr>
          <p:spPr>
            <a:xfrm>
              <a:off x="0" y="0"/>
              <a:ext cx="2556284" cy="2709333"/>
            </a:xfrm>
            <a:custGeom>
              <a:avLst/>
              <a:gdLst/>
              <a:ahLst/>
              <a:cxnLst/>
              <a:rect l="l" t="t" r="r" b="b"/>
              <a:pathLst>
                <a:path w="2556284" h="2709333" extrusionOk="0">
                  <a:moveTo>
                    <a:pt x="0" y="0"/>
                  </a:moveTo>
                  <a:lnTo>
                    <a:pt x="2556284" y="0"/>
                  </a:lnTo>
                  <a:lnTo>
                    <a:pt x="255628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EB"/>
            </a:solidFill>
            <a:ln>
              <a:noFill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24" name="Google Shape;524;p3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5" name="Google Shape;525;p31"/>
          <p:cNvPicPr preferRelativeResize="0"/>
          <p:nvPr/>
        </p:nvPicPr>
        <p:blipFill rotWithShape="1">
          <a:blip r:embed="rId4">
            <a:alphaModFix amt="25000"/>
          </a:blip>
          <a:srcRect l="7605" r="7604"/>
          <a:stretch/>
        </p:blipFill>
        <p:spPr>
          <a:xfrm rot="5400000">
            <a:off x="2599586" y="1691469"/>
            <a:ext cx="13088827" cy="970588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1"/>
          <p:cNvSpPr txBox="1"/>
          <p:nvPr/>
        </p:nvSpPr>
        <p:spPr>
          <a:xfrm>
            <a:off x="4891649" y="287469"/>
            <a:ext cx="85047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9000" b="1" i="0" u="none" strike="noStrike" cap="none" dirty="0">
                <a:solidFill>
                  <a:srgbClr val="2C6E4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Висновок</a:t>
            </a:r>
            <a:endParaRPr b="1" dirty="0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28" name="Google Shape;528;p31"/>
          <p:cNvSpPr txBox="1"/>
          <p:nvPr/>
        </p:nvSpPr>
        <p:spPr>
          <a:xfrm>
            <a:off x="4891649" y="2236931"/>
            <a:ext cx="8693725" cy="704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uk-UA" sz="3200" dirty="0">
                <a:solidFill>
                  <a:srgbClr val="403F3F"/>
                </a:solidFill>
                <a:latin typeface="Calibri" panose="020F0502020204030204" pitchFamily="34" charset="0"/>
                <a:ea typeface="Libre Baskerville"/>
                <a:cs typeface="Calibri" panose="020F0502020204030204" pitchFamily="34" charset="0"/>
                <a:sym typeface="Libre Baskerville"/>
              </a:rPr>
              <a:t>Бактеріальні захворювання суттєво вплинули на історію людства через їхню здатність спричиняти масову смертність і соціальні потрясіння. Хоча досягнення медицини покращили нашу здатність боротися з цими хворобами, вони залишаються постійною загрозою через такі фактори, як зміни в навколишньому середовищі та глобалізація. Розуміння цієї історії має вирішальне значення для підготовки до майбутніх спалахів і пом'якшення їхнього впливу на громадське здоров'я.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463</Words>
  <Application>Microsoft Office PowerPoint</Application>
  <PresentationFormat>Custom</PresentationFormat>
  <Paragraphs>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Nazar oo</cp:lastModifiedBy>
  <cp:revision>26</cp:revision>
  <dcterms:modified xsi:type="dcterms:W3CDTF">2024-12-02T20:08:01Z</dcterms:modified>
</cp:coreProperties>
</file>